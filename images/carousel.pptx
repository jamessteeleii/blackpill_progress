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56" r:id="rId5"/>
    <p:sldId id="261" r:id="rId6"/>
    <p:sldId id="262" r:id="rId7"/>
    <p:sldId id="263" r:id="rId8"/>
    <p:sldId id="264" r:id="rId9"/>
    <p:sldId id="265" r:id="rId10"/>
    <p:sldId id="270" r:id="rId11"/>
    <p:sldId id="277" r:id="rId12"/>
    <p:sldId id="266" r:id="rId13"/>
    <p:sldId id="267" r:id="rId14"/>
    <p:sldId id="268" r:id="rId15"/>
    <p:sldId id="269" r:id="rId16"/>
    <p:sldId id="273" r:id="rId17"/>
    <p:sldId id="274" r:id="rId18"/>
    <p:sldId id="272" r:id="rId19"/>
    <p:sldId id="275" r:id="rId20"/>
    <p:sldId id="278" r:id="rId21"/>
  </p:sldIdLst>
  <p:sldSz cx="7772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3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25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272011"/>
            <a:ext cx="6606540" cy="2705947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4082310"/>
            <a:ext cx="5829300" cy="1876530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10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075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937705"/>
            <a:ext cx="6703695" cy="3233102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5201393"/>
            <a:ext cx="6703695" cy="1700212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23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069042"/>
            <a:ext cx="330327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069042"/>
            <a:ext cx="330327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7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13810"/>
            <a:ext cx="6703695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905318"/>
            <a:ext cx="3288089" cy="93376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839085"/>
            <a:ext cx="3288089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905318"/>
            <a:ext cx="3304282" cy="93376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839085"/>
            <a:ext cx="3304282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59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516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37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18160"/>
            <a:ext cx="2506801" cy="18135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119083"/>
            <a:ext cx="3934778" cy="5523442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331720"/>
            <a:ext cx="2506801" cy="4319800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473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18160"/>
            <a:ext cx="2506801" cy="18135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119083"/>
            <a:ext cx="3934778" cy="5523442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331720"/>
            <a:ext cx="2506801" cy="4319800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937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09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413808"/>
            <a:ext cx="1675924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413808"/>
            <a:ext cx="4930616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76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413810"/>
            <a:ext cx="6703695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069042"/>
            <a:ext cx="6703695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7203865"/>
            <a:ext cx="174879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DCDC1-75EB-46C3-9E4F-688A886F2FA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7203865"/>
            <a:ext cx="262318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7203865"/>
            <a:ext cx="174879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991F6-59C0-4DD2-8FCC-0C84897C1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48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3B6F5DF-7FF3-F23C-91E8-B35CA42CB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447" r="41197" b="60403"/>
          <a:stretch>
            <a:fillRect/>
          </a:stretch>
        </p:blipFill>
        <p:spPr>
          <a:xfrm>
            <a:off x="3398043" y="6422232"/>
            <a:ext cx="4374357" cy="1350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05049F-A8D3-6B87-173D-D0F3DEFD8FB5}"/>
              </a:ext>
            </a:extLst>
          </p:cNvPr>
          <p:cNvSpPr txBox="1"/>
          <p:nvPr/>
        </p:nvSpPr>
        <p:spPr>
          <a:xfrm>
            <a:off x="1185862" y="1751677"/>
            <a:ext cx="54006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End of year reflections, or…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I just finished a cut, here’s how it went, and here’s my progress* over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36C87-4483-EB90-0926-2103BA3A2567}"/>
              </a:ext>
            </a:extLst>
          </p:cNvPr>
          <p:cNvSpPr txBox="1"/>
          <p:nvPr/>
        </p:nvSpPr>
        <p:spPr>
          <a:xfrm>
            <a:off x="0" y="7495401"/>
            <a:ext cx="2370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venir Next LT Pro" panose="020B0504020202020204" pitchFamily="34" charset="0"/>
              </a:rPr>
              <a:t>*Terms and conditions apply ;-)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B631C0-3A9F-A3DD-C4DD-3EEB1E45AB3D}"/>
              </a:ext>
            </a:extLst>
          </p:cNvPr>
          <p:cNvSpPr txBox="1"/>
          <p:nvPr/>
        </p:nvSpPr>
        <p:spPr>
          <a:xfrm>
            <a:off x="1346081" y="5093493"/>
            <a:ext cx="50802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latin typeface="Avenir Next LT Pro" panose="020B0504020202020204" pitchFamily="34" charset="0"/>
              </a:rPr>
              <a:t>All data and code for this post can be found in the accompanying GitHub repository</a:t>
            </a:r>
          </a:p>
          <a:p>
            <a:pPr algn="ctr"/>
            <a:r>
              <a:rPr lang="en-GB" sz="1000" dirty="0">
                <a:latin typeface="Avenir Next LT Pro" panose="020B0504020202020204" pitchFamily="34" charset="0"/>
              </a:rPr>
              <a:t>https://github.com/jamessteeleii/blackpill_progress.git</a:t>
            </a:r>
          </a:p>
        </p:txBody>
      </p:sp>
    </p:spTree>
    <p:extLst>
      <p:ext uri="{BB962C8B-B14F-4D97-AF65-F5344CB8AC3E}">
        <p14:creationId xmlns:p14="http://schemas.microsoft.com/office/powerpoint/2010/main" val="431032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287F6-5E61-C22C-A270-E687114A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60D205C-BD36-B2E4-BF8F-9B6E302AB318}"/>
              </a:ext>
            </a:extLst>
          </p:cNvPr>
          <p:cNvSpPr txBox="1"/>
          <p:nvPr/>
        </p:nvSpPr>
        <p:spPr>
          <a:xfrm>
            <a:off x="339329" y="700712"/>
            <a:ext cx="709374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So, most folks will know that earlier this year I joined the MacroFactor team full time as Head of Research.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I was super pumped to join, really excited about the work we’re doing, and couldn’t be happier working with such a great team of people.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It’s been years since I have recorded my own nutrition (or my workouts to be honest). 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But I needed to get used to the MacroFactor UI and how the app operates so I thought what the hell… why not do a little cut up to </a:t>
            </a:r>
            <a:r>
              <a:rPr lang="en-GB" sz="2400" dirty="0" err="1">
                <a:latin typeface="Avenir Next LT Pro" panose="020B0504020202020204" pitchFamily="34" charset="0"/>
              </a:rPr>
              <a:t>xmas</a:t>
            </a:r>
            <a:r>
              <a:rPr lang="en-GB" sz="2400" dirty="0">
                <a:latin typeface="Avenir Next LT Pro" panose="020B0504020202020204" pitchFamily="34" charset="0"/>
              </a:rPr>
              <a:t> (particularly as my weight has crept upward over the past ~5 years).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57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D5A2C-4926-4BB8-7E49-198BDA3D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03C2B1-86CB-4FBC-30B1-5DB35BB65C57}"/>
              </a:ext>
            </a:extLst>
          </p:cNvPr>
          <p:cNvSpPr txBox="1"/>
          <p:nvPr/>
        </p:nvSpPr>
        <p:spPr>
          <a:xfrm>
            <a:off x="338400" y="885378"/>
            <a:ext cx="7095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Firstly, of course I’m biased, but this cut was super easy using MacroFactor. 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I wanted to do it relatively slowly over a few months, be fairly laid back about it, and not stress about the odd binge here and there, travel, social events etc.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Here’s my weight and calorie data over that period… (swipe </a:t>
            </a:r>
            <a:r>
              <a:rPr lang="en-GB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en-GB" sz="3200" dirty="0">
                <a:latin typeface="Avenir Next LT Pro" panose="020B05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9187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energy and energy&#10;&#10;AI-generated content may be incorrect.">
            <a:extLst>
              <a:ext uri="{FF2B5EF4-FFF2-40B4-BE49-F238E27FC236}">
                <a16:creationId xmlns:a16="http://schemas.microsoft.com/office/drawing/2014/main" id="{98670BA6-D547-A120-866F-3DCEC968A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2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2EBA-1DF1-C8F0-EE1D-9A314C39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03374F-DD29-5B0F-642A-7210F0B74477}"/>
              </a:ext>
            </a:extLst>
          </p:cNvPr>
          <p:cNvSpPr txBox="1"/>
          <p:nvPr/>
        </p:nvSpPr>
        <p:spPr>
          <a:xfrm>
            <a:off x="338400" y="885378"/>
            <a:ext cx="7095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As you can see, there were some decent binges there.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But even with that, as my energy expenditure is pretty high, I was able to keep myself in a caloric deficit over time.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I didn’t quite get to my target trend weight of 70 kg before </a:t>
            </a:r>
            <a:r>
              <a:rPr lang="en-GB" sz="3200" dirty="0" err="1">
                <a:latin typeface="Avenir Next LT Pro" panose="020B0504020202020204" pitchFamily="34" charset="0"/>
              </a:rPr>
              <a:t>xmas</a:t>
            </a:r>
            <a:r>
              <a:rPr lang="en-GB" sz="3200" dirty="0">
                <a:latin typeface="Avenir Next LT Pro" panose="020B0504020202020204" pitchFamily="34" charset="0"/>
              </a:rPr>
              <a:t> (a few too many social events in the lead up) but got close.</a:t>
            </a:r>
          </a:p>
        </p:txBody>
      </p:sp>
    </p:spTree>
    <p:extLst>
      <p:ext uri="{BB962C8B-B14F-4D97-AF65-F5344CB8AC3E}">
        <p14:creationId xmlns:p14="http://schemas.microsoft.com/office/powerpoint/2010/main" val="223159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80F01-9F29-58AF-C125-4294CAC7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843E98-36A3-35BE-2E3F-49267AC27559}"/>
              </a:ext>
            </a:extLst>
          </p:cNvPr>
          <p:cNvSpPr txBox="1"/>
          <p:nvPr/>
        </p:nvSpPr>
        <p:spPr>
          <a:xfrm>
            <a:off x="338400" y="660588"/>
            <a:ext cx="709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Avenir Next LT Pro" panose="020B0504020202020204" pitchFamily="34" charset="0"/>
              </a:rPr>
              <a:t>My maintenance calorie intake is pretty high due to a combo of daily steps, lifting 3x/week, running 3x/week, and during this period I did a lot of exercise “snacks” (random non-failure sets of pullups, dips, sissy squats throughout the day 2-3 times)</a:t>
            </a:r>
          </a:p>
        </p:txBody>
      </p:sp>
      <p:pic>
        <p:nvPicPr>
          <p:cNvPr id="3" name="Picture 2" descr="A graph showing cut and time&#10;&#10;AI-generated content may be incorrect.">
            <a:extLst>
              <a:ext uri="{FF2B5EF4-FFF2-40B4-BE49-F238E27FC236}">
                <a16:creationId xmlns:a16="http://schemas.microsoft.com/office/drawing/2014/main" id="{4E5A2004-D0C4-A19A-B318-8BED5653D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6200"/>
            <a:ext cx="7772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7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4F6EE-3DF8-F88B-BED6-3031B63A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52E984-DCDA-3B7F-A727-BF1251D04A81}"/>
              </a:ext>
            </a:extLst>
          </p:cNvPr>
          <p:cNvSpPr txBox="1"/>
          <p:nvPr/>
        </p:nvSpPr>
        <p:spPr>
          <a:xfrm>
            <a:off x="338400" y="474851"/>
            <a:ext cx="7095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Avenir Next LT Pro" panose="020B0504020202020204" pitchFamily="34" charset="0"/>
              </a:rPr>
              <a:t>I didn’t stress too much about macros either during this period. I’m vegetarian but despite no concerted effort to eat higher protein I hit 1.36 to 1.44 g/kg… maybe not what most would consider optimal, but meh, it’s absolutely fine </a:t>
            </a:r>
          </a:p>
          <a:p>
            <a:pPr algn="ctr"/>
            <a:r>
              <a:rPr lang="en-GB" sz="2800" dirty="0">
                <a:latin typeface="Avenir Next LT Pro" panose="020B0504020202020204" pitchFamily="34" charset="0"/>
              </a:rPr>
              <a:t>(see previous post </a:t>
            </a:r>
            <a:r>
              <a:rPr lang="en-GB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</a:t>
            </a:r>
            <a:r>
              <a:rPr lang="en-GB" sz="2800" dirty="0">
                <a:latin typeface="Avenir Next LT Pro" panose="020B0504020202020204" pitchFamily="34" charset="0"/>
              </a:rPr>
              <a:t>)</a:t>
            </a: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223E84D-EE3B-8078-7825-A731BAD5B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14243"/>
            <a:ext cx="7772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3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C911F-B5D6-0F2B-0A69-EB42B8E1A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DC1AD0-AE6E-B437-EFB0-D8689C7885F4}"/>
              </a:ext>
            </a:extLst>
          </p:cNvPr>
          <p:cNvSpPr txBox="1"/>
          <p:nvPr/>
        </p:nvSpPr>
        <p:spPr>
          <a:xfrm>
            <a:off x="338400" y="456753"/>
            <a:ext cx="709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Avenir Next LT Pro" panose="020B0504020202020204" pitchFamily="34" charset="0"/>
              </a:rPr>
              <a:t>So, I mentioned weight had crept up over the past 5 years…</a:t>
            </a:r>
          </a:p>
        </p:txBody>
      </p:sp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C036D39C-1708-CAF7-FE34-17E90060B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3063"/>
            <a:ext cx="7772400" cy="388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C7D0CE-6CC0-4E79-5EE0-98CE8D886DC6}"/>
              </a:ext>
            </a:extLst>
          </p:cNvPr>
          <p:cNvSpPr txBox="1"/>
          <p:nvPr/>
        </p:nvSpPr>
        <p:spPr>
          <a:xfrm>
            <a:off x="338400" y="5652283"/>
            <a:ext cx="709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Avenir Next LT Pro" panose="020B0504020202020204" pitchFamily="34" charset="0"/>
              </a:rPr>
              <a:t>My weight been in a tight-ish range for years, but I have noticed changes in visible leanness over time.</a:t>
            </a:r>
          </a:p>
        </p:txBody>
      </p:sp>
    </p:spTree>
    <p:extLst>
      <p:ext uri="{BB962C8B-B14F-4D97-AF65-F5344CB8AC3E}">
        <p14:creationId xmlns:p14="http://schemas.microsoft.com/office/powerpoint/2010/main" val="354556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98338-572E-C30B-D35C-A8975248F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778183-EB36-CDBC-ADD8-27D813CF9E16}"/>
              </a:ext>
            </a:extLst>
          </p:cNvPr>
          <p:cNvSpPr txBox="1"/>
          <p:nvPr/>
        </p:nvSpPr>
        <p:spPr>
          <a:xfrm>
            <a:off x="338400" y="885378"/>
            <a:ext cx="70956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I actually had a DEXA scan specifically after finishing this cut to see how I had got on (you can see the report on the GitHub repo) which had me at 9% body fat.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But I also had bodpod data as far back as 2010… so I figured why not take a look at the estimated fat free mass (FFM) over time and use that along with the past ~5 years of weight data (we’ve had the digital scales that long) to see whether I’ve gained any FFM.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Now, most people will know already that I am a </a:t>
            </a:r>
            <a:r>
              <a:rPr lang="en-GB" sz="2400" dirty="0" err="1">
                <a:latin typeface="Avenir Next LT Pro" panose="020B0504020202020204" pitchFamily="34" charset="0"/>
              </a:rPr>
              <a:t>skeptic</a:t>
            </a:r>
            <a:r>
              <a:rPr lang="en-GB" sz="2400" dirty="0">
                <a:latin typeface="Avenir Next LT Pro" panose="020B0504020202020204" pitchFamily="34" charset="0"/>
              </a:rPr>
              <a:t> about how much gains are possible in the first place, let alone after decades of training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(I even made a fun meme for it – swipe </a:t>
            </a: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en-GB" sz="2400" dirty="0">
                <a:latin typeface="Avenir Next LT Pro" panose="020B0504020202020204" pitchFamily="34" charset="0"/>
              </a:rPr>
              <a:t>)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2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AF45-FA78-A975-4D3C-85C57AFE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person with sunglasses and a black jacket holding two white chips&#10;&#10;AI-generated content may be incorrect.">
            <a:extLst>
              <a:ext uri="{FF2B5EF4-FFF2-40B4-BE49-F238E27FC236}">
                <a16:creationId xmlns:a16="http://schemas.microsoft.com/office/drawing/2014/main" id="{24165B9D-C4F5-A165-C9DA-33EE56981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7772400"/>
          </a:xfrm>
        </p:spPr>
      </p:pic>
    </p:spTree>
    <p:extLst>
      <p:ext uri="{BB962C8B-B14F-4D97-AF65-F5344CB8AC3E}">
        <p14:creationId xmlns:p14="http://schemas.microsoft.com/office/powerpoint/2010/main" val="3992808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FE655-22D9-27C0-A6AA-62D12701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DF8996-EFD5-E0C4-756E-65DAE890A31D}"/>
              </a:ext>
            </a:extLst>
          </p:cNvPr>
          <p:cNvSpPr txBox="1"/>
          <p:nvPr/>
        </p:nvSpPr>
        <p:spPr>
          <a:xfrm>
            <a:off x="338400" y="0"/>
            <a:ext cx="70956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venir Next LT Pro" panose="020B0504020202020204" pitchFamily="34" charset="0"/>
              </a:rPr>
              <a:t>“Blackpilled”… basically, both strength and muscle adapt in a roughly linear-logarithmic rate over time (at least up to the point where aging sends you the other way). </a:t>
            </a: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r>
              <a:rPr lang="en-GB" sz="2000" dirty="0">
                <a:latin typeface="Avenir Next LT Pro" panose="020B0504020202020204" pitchFamily="34" charset="0"/>
              </a:rPr>
              <a:t>This means that most gains happen early and after that, if you’re hitting the basics, any differences between approaches are tiny if they’re even there at all.</a:t>
            </a:r>
          </a:p>
        </p:txBody>
      </p:sp>
      <p:pic>
        <p:nvPicPr>
          <p:cNvPr id="2" name="Picture 1" descr="A graph with a line&#10;&#10;AI-generated content may be incorrect.">
            <a:extLst>
              <a:ext uri="{FF2B5EF4-FFF2-40B4-BE49-F238E27FC236}">
                <a16:creationId xmlns:a16="http://schemas.microsoft.com/office/drawing/2014/main" id="{4CB718DA-A3D3-ACD2-1B69-D77FD610F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48"/>
          <a:stretch/>
        </p:blipFill>
        <p:spPr>
          <a:xfrm>
            <a:off x="943912" y="1083618"/>
            <a:ext cx="5884576" cy="2802582"/>
          </a:xfrm>
          <a:prstGeom prst="rect">
            <a:avLst/>
          </a:prstGeom>
        </p:spPr>
      </p:pic>
      <p:pic>
        <p:nvPicPr>
          <p:cNvPr id="3" name="Picture 2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26814244-5CA0-9471-405D-924240E7FD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50"/>
          <a:stretch/>
        </p:blipFill>
        <p:spPr>
          <a:xfrm>
            <a:off x="943912" y="3968809"/>
            <a:ext cx="5884575" cy="27966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83B1D-EBE8-2311-EF04-1F8F65D135F7}"/>
              </a:ext>
            </a:extLst>
          </p:cNvPr>
          <p:cNvSpPr txBox="1"/>
          <p:nvPr/>
        </p:nvSpPr>
        <p:spPr>
          <a:xfrm>
            <a:off x="5022056" y="3893373"/>
            <a:ext cx="283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latin typeface="Avenir Next LT Pro" panose="020B0504020202020204" pitchFamily="34" charset="0"/>
              </a:rPr>
              <a:t>Data from DOI: 10.1080/02640414.2023.2286748</a:t>
            </a:r>
          </a:p>
          <a:p>
            <a:endParaRPr lang="en-GB" sz="9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395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0FA2-3037-5B8F-1C3C-F2B58ABB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334C26-7343-8674-1A7C-BEA67F4BD4E4}"/>
              </a:ext>
            </a:extLst>
          </p:cNvPr>
          <p:cNvSpPr txBox="1"/>
          <p:nvPr/>
        </p:nvSpPr>
        <p:spPr>
          <a:xfrm>
            <a:off x="338400" y="353914"/>
            <a:ext cx="7095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venir Next LT Pro" panose="020B0504020202020204" pitchFamily="34" charset="0"/>
              </a:rPr>
              <a:t>Anyway, I popped back into Solent Universities sport and exercise science labs and was able to get the bodpod density estimates over time for all my tests. I could then re-calculate for myself, using more appropriate formulas, my estimated FFM%.</a:t>
            </a:r>
          </a:p>
          <a:p>
            <a:pPr algn="ctr"/>
            <a:r>
              <a:rPr lang="en-GB" sz="2000" dirty="0">
                <a:latin typeface="Avenir Next LT Pro" panose="020B0504020202020204" pitchFamily="34" charset="0"/>
              </a:rPr>
              <a:t> </a:t>
            </a:r>
          </a:p>
          <a:p>
            <a:pPr algn="ctr"/>
            <a:r>
              <a:rPr lang="en-GB" sz="2000" dirty="0">
                <a:latin typeface="Avenir Next LT Pro" panose="020B0504020202020204" pitchFamily="34" charset="0"/>
              </a:rPr>
              <a:t>Below shows a simple LOESS regression of this, the predictions of which for 2020-2025 I could then combine with my weight data from that period</a:t>
            </a:r>
          </a:p>
          <a:p>
            <a:pPr algn="ctr"/>
            <a:endParaRPr lang="en-GB" sz="2000" dirty="0">
              <a:latin typeface="Avenir Next LT Pro" panose="020B0504020202020204" pitchFamily="34" charset="0"/>
            </a:endParaRPr>
          </a:p>
          <a:p>
            <a:pPr algn="ctr"/>
            <a:r>
              <a:rPr lang="en-GB" sz="2000" dirty="0">
                <a:latin typeface="Avenir Next LT Pro" panose="020B0504020202020204" pitchFamily="34" charset="0"/>
              </a:rPr>
              <a:t>(swipe </a:t>
            </a:r>
            <a:r>
              <a:rPr lang="en-GB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en-GB" sz="2000" dirty="0">
                <a:latin typeface="Avenir Next LT Pro" panose="020B0504020202020204" pitchFamily="34" charset="0"/>
              </a:rPr>
              <a:t>)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8E54BD9-C7DB-CF1D-86BA-7E1814F99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38"/>
          <a:stretch>
            <a:fillRect/>
          </a:stretch>
        </p:blipFill>
        <p:spPr>
          <a:xfrm>
            <a:off x="0" y="4029074"/>
            <a:ext cx="7772400" cy="3743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7F6710-771F-DC2D-B855-B52EA893DE6E}"/>
              </a:ext>
            </a:extLst>
          </p:cNvPr>
          <p:cNvSpPr/>
          <p:nvPr/>
        </p:nvSpPr>
        <p:spPr>
          <a:xfrm>
            <a:off x="4650581" y="7365206"/>
            <a:ext cx="3028950" cy="214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889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9D58-E436-F57E-257C-44FAE719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B53C949-D471-0573-D182-6D86BE2F9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7772400" cy="77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63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B523-DCF3-86A2-6D55-9CA52727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4BC27F-3A94-82C3-961E-8F2A34A39441}"/>
              </a:ext>
            </a:extLst>
          </p:cNvPr>
          <p:cNvSpPr txBox="1"/>
          <p:nvPr/>
        </p:nvSpPr>
        <p:spPr>
          <a:xfrm>
            <a:off x="338400" y="639157"/>
            <a:ext cx="70956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Some of you might look at the FFM estimates over time and think it looks like the past 5 years have resulted in some gains… but the truth is it’s all consistent with maintenance when we take the longer-term trend into consideration (all pretty much consistent with the mean).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Visually things aren’t much different… </a:t>
            </a:r>
            <a:r>
              <a:rPr lang="en-GB" sz="3200" dirty="0">
                <a:latin typeface="Avenir Next LT Pro" panose="020B0504020202020204" pitchFamily="34" charset="0"/>
                <a:sym typeface="Wingdings" panose="05000000000000000000" pitchFamily="2" charset="2"/>
              </a:rPr>
              <a:t></a:t>
            </a:r>
          </a:p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(swipe </a:t>
            </a:r>
            <a:r>
              <a:rPr lang="en-GB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en-GB" sz="3200" dirty="0">
                <a:latin typeface="Avenir Next LT Pro" panose="020B0504020202020204" pitchFamily="34" charset="0"/>
              </a:rPr>
              <a:t>)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102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0F56B-EE02-3514-2AFF-296A90E7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47507D-4B04-B015-B0D5-6FF1773460F8}"/>
              </a:ext>
            </a:extLst>
          </p:cNvPr>
          <p:cNvSpPr txBox="1"/>
          <p:nvPr/>
        </p:nvSpPr>
        <p:spPr>
          <a:xfrm>
            <a:off x="338400" y="149096"/>
            <a:ext cx="709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I managed to find a few photos over time with sufficiently similar poses to pull and scale my right flexed arm. Pictures show dates, scale weight (trend weight).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Considering differences in pose, lighting, pump etc. I honestly don’t see much more than maintenance.</a:t>
            </a:r>
          </a:p>
        </p:txBody>
      </p:sp>
      <p:pic>
        <p:nvPicPr>
          <p:cNvPr id="3" name="Picture 2" descr="A collage of a person flexing his arms&#10;&#10;AI-generated content may be incorrect.">
            <a:extLst>
              <a:ext uri="{FF2B5EF4-FFF2-40B4-BE49-F238E27FC236}">
                <a16:creationId xmlns:a16="http://schemas.microsoft.com/office/drawing/2014/main" id="{2013F1E4-6645-927B-64AB-957CB61DE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0425"/>
            <a:ext cx="7772400" cy="4371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570775-E049-E495-1BF9-55132D6B4B89}"/>
              </a:ext>
            </a:extLst>
          </p:cNvPr>
          <p:cNvSpPr txBox="1"/>
          <p:nvPr/>
        </p:nvSpPr>
        <p:spPr>
          <a:xfrm>
            <a:off x="1010999" y="4143376"/>
            <a:ext cx="8835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28-04-2019</a:t>
            </a:r>
          </a:p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21512-AA06-50E9-B241-6887101F5D5E}"/>
              </a:ext>
            </a:extLst>
          </p:cNvPr>
          <p:cNvSpPr txBox="1"/>
          <p:nvPr/>
        </p:nvSpPr>
        <p:spPr>
          <a:xfrm>
            <a:off x="2723704" y="4143376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03-05-2020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71.1 kg (71.2 kg)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2CCA6-E47F-A06D-7240-04FE594AF534}"/>
              </a:ext>
            </a:extLst>
          </p:cNvPr>
          <p:cNvSpPr txBox="1"/>
          <p:nvPr/>
        </p:nvSpPr>
        <p:spPr>
          <a:xfrm>
            <a:off x="4575871" y="4143375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09-05-2020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71.7 kg (71.3 kg)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833D1-E954-255F-9BA2-20C53263AA8A}"/>
              </a:ext>
            </a:extLst>
          </p:cNvPr>
          <p:cNvSpPr txBox="1"/>
          <p:nvPr/>
        </p:nvSpPr>
        <p:spPr>
          <a:xfrm>
            <a:off x="6538916" y="4143375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25-12-2020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73.9 kg (73.8 kg)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6CFEA-D3B4-8CB2-FDA1-FF79304AD818}"/>
              </a:ext>
            </a:extLst>
          </p:cNvPr>
          <p:cNvSpPr txBox="1"/>
          <p:nvPr/>
        </p:nvSpPr>
        <p:spPr>
          <a:xfrm>
            <a:off x="871541" y="6296025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23-04-2023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73.7 kg (73.1 kg)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CA601-5E48-409F-4598-5259A50F3EA6}"/>
              </a:ext>
            </a:extLst>
          </p:cNvPr>
          <p:cNvSpPr txBox="1"/>
          <p:nvPr/>
        </p:nvSpPr>
        <p:spPr>
          <a:xfrm>
            <a:off x="2723704" y="6296024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27-07-2024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73.2 kg (73.6 kg)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CB6CF-956A-7455-6FA4-4753BF3363B9}"/>
              </a:ext>
            </a:extLst>
          </p:cNvPr>
          <p:cNvSpPr txBox="1"/>
          <p:nvPr/>
        </p:nvSpPr>
        <p:spPr>
          <a:xfrm>
            <a:off x="4724510" y="6296024"/>
            <a:ext cx="10470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04-10-2025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73 kg (73.2 kg)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3B11F-47E2-FF23-FE17-F6B12D83D64C}"/>
              </a:ext>
            </a:extLst>
          </p:cNvPr>
          <p:cNvSpPr txBox="1"/>
          <p:nvPr/>
        </p:nvSpPr>
        <p:spPr>
          <a:xfrm>
            <a:off x="6538915" y="6296023"/>
            <a:ext cx="1162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11-12-2025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69.8 kg (71.0 kg)</a:t>
            </a:r>
          </a:p>
        </p:txBody>
      </p:sp>
    </p:spTree>
    <p:extLst>
      <p:ext uri="{BB962C8B-B14F-4D97-AF65-F5344CB8AC3E}">
        <p14:creationId xmlns:p14="http://schemas.microsoft.com/office/powerpoint/2010/main" val="3423620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51A03-D471-592C-D202-2071707A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40C577-0518-1206-3DE7-60F47FF577FF}"/>
              </a:ext>
            </a:extLst>
          </p:cNvPr>
          <p:cNvSpPr txBox="1"/>
          <p:nvPr/>
        </p:nvSpPr>
        <p:spPr>
          <a:xfrm>
            <a:off x="338400" y="392936"/>
            <a:ext cx="70956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Strength-wise… well I said I haven’t really recorded my workouts for years. But I do have at least a couple of exercises I have an idea of. 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I do weighted pullups and dips regularly with a 27.5 kg dumbbell set I have and, for as long as I can remember, I’ve been able to do ~4-8 reps to failure depending on how I am feeling on the day.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  <a:p>
            <a:pPr algn="ctr"/>
            <a:r>
              <a:rPr lang="en-GB" sz="3200" dirty="0">
                <a:latin typeface="Avenir Next LT Pro" panose="020B0504020202020204" pitchFamily="34" charset="0"/>
              </a:rPr>
              <a:t>So not much progress there either.</a:t>
            </a:r>
          </a:p>
          <a:p>
            <a:pPr algn="ctr"/>
            <a:endParaRPr lang="en-GB" sz="32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147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E0CC-C992-BC07-64E8-011F137E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E51B58-BECA-58C1-8922-93ADBB9E20CB}"/>
              </a:ext>
            </a:extLst>
          </p:cNvPr>
          <p:cNvSpPr txBox="1"/>
          <p:nvPr/>
        </p:nvSpPr>
        <p:spPr>
          <a:xfrm>
            <a:off x="338400" y="700712"/>
            <a:ext cx="70956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It’s at this point people might say: 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“Well, James, you typically train low volume, you haven’t really done a proper bulk, nor is your protein intake optimal”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True… at least for the past 10-15 years I’ve trained with fairly low volume, haven’t deliberately bulked, though I have been through periods of much higher protein intake (~1.8-2.0 g/kg).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It’s worth noting though that I have been resistance training for almost 25 years. In that time, I have done pretty much all the above at some point including super high-volume stuff when I was in late teens/early twenties… and the reality is, I pretty much looked the same irrespective.</a:t>
            </a:r>
          </a:p>
        </p:txBody>
      </p:sp>
    </p:spTree>
    <p:extLst>
      <p:ext uri="{BB962C8B-B14F-4D97-AF65-F5344CB8AC3E}">
        <p14:creationId xmlns:p14="http://schemas.microsoft.com/office/powerpoint/2010/main" val="3506361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899999-42C1-7B67-318A-5369A5891E64}"/>
              </a:ext>
            </a:extLst>
          </p:cNvPr>
          <p:cNvSpPr txBox="1"/>
          <p:nvPr/>
        </p:nvSpPr>
        <p:spPr>
          <a:xfrm>
            <a:off x="338400" y="331380"/>
            <a:ext cx="70956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So, does this mean that I (we?) should give up and be a nihilist about training and progress? 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Of course not! As good ol’ Walter Sobchak would say: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i="1" dirty="0">
                <a:latin typeface="Avenir Next LT Pro" panose="020B0504020202020204" pitchFamily="34" charset="0"/>
              </a:rPr>
              <a:t>“Nihilists! Fuck me. I mean, say what you want about the tenets of Periodisation, Dude, at least it's an ethos”</a:t>
            </a:r>
          </a:p>
          <a:p>
            <a:pPr algn="ctr"/>
            <a:endParaRPr lang="en-GB" sz="2400" i="1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To be honest, I’ve enjoyed having a little goal to focus on during my cut… and so, just to keep that enjoyment, I’m setting another goal.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For the first 6 months of 2026 I’m </a:t>
            </a:r>
            <a:r>
              <a:rPr lang="en-GB" sz="2400" dirty="0" err="1">
                <a:latin typeface="Avenir Next LT Pro" panose="020B0504020202020204" pitchFamily="34" charset="0"/>
              </a:rPr>
              <a:t>gonna</a:t>
            </a:r>
            <a:r>
              <a:rPr lang="en-GB" sz="2400" dirty="0">
                <a:latin typeface="Avenir Next LT Pro" panose="020B0504020202020204" pitchFamily="34" charset="0"/>
              </a:rPr>
              <a:t> try a bulk (target trend weight ~76-77kg), increase training volume, and increase protein intake all in the service of seeing how blackpilled I am.</a:t>
            </a:r>
          </a:p>
          <a:p>
            <a:pPr algn="ctr"/>
            <a:endParaRPr lang="en-GB" sz="2400" i="1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683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8065-B03B-53CB-A141-554333820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534C09-87A4-D797-65AC-EDC37D2F7DDE}"/>
              </a:ext>
            </a:extLst>
          </p:cNvPr>
          <p:cNvSpPr txBox="1"/>
          <p:nvPr/>
        </p:nvSpPr>
        <p:spPr>
          <a:xfrm>
            <a:off x="338400" y="146715"/>
            <a:ext cx="70956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What’s this </a:t>
            </a:r>
            <a:r>
              <a:rPr lang="en-GB" sz="2400" dirty="0" err="1">
                <a:latin typeface="Avenir Next LT Pro" panose="020B0504020202020204" pitchFamily="34" charset="0"/>
              </a:rPr>
              <a:t>gonna</a:t>
            </a:r>
            <a:r>
              <a:rPr lang="en-GB" sz="2400" dirty="0">
                <a:latin typeface="Avenir Next LT Pro" panose="020B0504020202020204" pitchFamily="34" charset="0"/>
              </a:rPr>
              <a:t> look like?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Well, rough calculations means I should be able to hit that fairly easily along with a protein target of ~1.8 g/kg by simply adding a bowl of the Fuel granola I like with semi-skimmed milk and a scoop of whey most days.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For training, I am going to be specific… as I have the arm pictures, I figure that’s the best thing to focus on for comparison (plus I don’t want to be having hour long or longer workouts doing everything higher volume). 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I currently hit around ~5-6* fractional sets for biceps/triceps a week but will be increasing that to ~15* sets. I’ll track all my volume over that time using </a:t>
            </a:r>
            <a:r>
              <a:rPr lang="en-GB" sz="2400" dirty="0" err="1">
                <a:latin typeface="Avenir Next LT Pro" panose="020B0504020202020204" pitchFamily="34" charset="0"/>
              </a:rPr>
              <a:t>MacroFactor’s</a:t>
            </a:r>
            <a:r>
              <a:rPr lang="en-GB" sz="2400" dirty="0">
                <a:latin typeface="Avenir Next LT Pro" panose="020B0504020202020204" pitchFamily="34" charset="0"/>
              </a:rPr>
              <a:t> new workouts app.</a:t>
            </a:r>
          </a:p>
          <a:p>
            <a:pPr algn="ctr"/>
            <a:endParaRPr lang="en-GB" sz="2400" dirty="0">
              <a:latin typeface="Avenir Next LT Pro" panose="020B0504020202020204" pitchFamily="34" charset="0"/>
            </a:endParaRPr>
          </a:p>
          <a:p>
            <a:pPr algn="ctr"/>
            <a:r>
              <a:rPr lang="en-GB" sz="2400" dirty="0">
                <a:latin typeface="Avenir Next LT Pro" panose="020B0504020202020204" pitchFamily="34" charset="0"/>
              </a:rPr>
              <a:t>I’ll post the workouts in a later post sometime.</a:t>
            </a:r>
            <a:endParaRPr lang="en-GB" sz="2400" i="1" dirty="0">
              <a:latin typeface="Avenir Next LT Pro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3AAE31-BD1D-1D08-D23D-41212FADCEE0}"/>
              </a:ext>
            </a:extLst>
          </p:cNvPr>
          <p:cNvSpPr txBox="1"/>
          <p:nvPr/>
        </p:nvSpPr>
        <p:spPr>
          <a:xfrm>
            <a:off x="0" y="7526179"/>
            <a:ext cx="44630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Avenir Next LT Pro" panose="020B0504020202020204" pitchFamily="34" charset="0"/>
              </a:rPr>
              <a:t>*Not including “exercise snacks” though I will record these going forward</a:t>
            </a:r>
          </a:p>
        </p:txBody>
      </p:sp>
    </p:spTree>
    <p:extLst>
      <p:ext uri="{BB962C8B-B14F-4D97-AF65-F5344CB8AC3E}">
        <p14:creationId xmlns:p14="http://schemas.microsoft.com/office/powerpoint/2010/main" val="1521137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85926-1930-2338-E87E-11988C65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1B1EE9-3E35-BCB1-6065-E03306ECE49D}"/>
              </a:ext>
            </a:extLst>
          </p:cNvPr>
          <p:cNvSpPr txBox="1"/>
          <p:nvPr/>
        </p:nvSpPr>
        <p:spPr>
          <a:xfrm>
            <a:off x="338400" y="632490"/>
            <a:ext cx="7095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Avenir Next LT Pro" panose="020B0504020202020204" pitchFamily="34" charset="0"/>
              </a:rPr>
              <a:t>So that’s it… an easy cut, plan to try a bulk next year for six months, then will likely cut back down again, then maintain. I’ve prepaid for three follow-up DEXA scans too so will have those for each phase, and we’ve just purchased a new </a:t>
            </a:r>
            <a:r>
              <a:rPr lang="en-GB" sz="2800" dirty="0" err="1">
                <a:latin typeface="Avenir Next LT Pro" panose="020B0504020202020204" pitchFamily="34" charset="0"/>
              </a:rPr>
              <a:t>Withings</a:t>
            </a:r>
            <a:r>
              <a:rPr lang="en-GB" sz="2800" dirty="0">
                <a:latin typeface="Avenir Next LT Pro" panose="020B0504020202020204" pitchFamily="34" charset="0"/>
              </a:rPr>
              <a:t> Body Scan for home so will keep daily track of body composition using that.</a:t>
            </a:r>
          </a:p>
          <a:p>
            <a:pPr algn="ctr"/>
            <a:endParaRPr lang="en-GB" sz="2800" dirty="0">
              <a:latin typeface="Avenir Next LT Pro" panose="020B0504020202020204" pitchFamily="34" charset="0"/>
            </a:endParaRPr>
          </a:p>
          <a:p>
            <a:pPr algn="ctr"/>
            <a:r>
              <a:rPr lang="en-GB" sz="2800" dirty="0">
                <a:latin typeface="Avenir Next LT Pro" panose="020B0504020202020204" pitchFamily="34" charset="0"/>
              </a:rPr>
              <a:t>Let’s see if I can add anything noticeable onto this old frame </a:t>
            </a:r>
            <a:r>
              <a:rPr lang="en-GB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</a:t>
            </a:r>
          </a:p>
          <a:p>
            <a:pPr algn="ctr"/>
            <a:endParaRPr lang="en-GB" sz="2800" dirty="0">
              <a:latin typeface="Avenir Next LT Pro" panose="020B0504020202020204" pitchFamily="34" charset="0"/>
              <a:sym typeface="Wingdings" panose="05000000000000000000" pitchFamily="2" charset="2"/>
            </a:endParaRPr>
          </a:p>
          <a:p>
            <a:pPr algn="ctr"/>
            <a:r>
              <a:rPr lang="en-GB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But for all of you, hope you had a great 2025, and here’s to a Happy New Year!</a:t>
            </a:r>
            <a:endParaRPr lang="en-GB" sz="2800" dirty="0">
              <a:latin typeface="Avenir Next LT Pro" panose="020B0504020202020204" pitchFamily="34" charset="0"/>
            </a:endParaRPr>
          </a:p>
          <a:p>
            <a:pPr algn="ctr"/>
            <a:endParaRPr lang="en-GB" sz="2800" i="1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038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1503</Words>
  <Application>Microsoft Office PowerPoint</Application>
  <PresentationFormat>Custom</PresentationFormat>
  <Paragraphs>120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Avenir Next LT Pro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Steele</dc:creator>
  <cp:lastModifiedBy>James Steele</cp:lastModifiedBy>
  <cp:revision>1</cp:revision>
  <dcterms:created xsi:type="dcterms:W3CDTF">2025-12-30T21:18:19Z</dcterms:created>
  <dcterms:modified xsi:type="dcterms:W3CDTF">2025-12-30T23:36:27Z</dcterms:modified>
</cp:coreProperties>
</file>